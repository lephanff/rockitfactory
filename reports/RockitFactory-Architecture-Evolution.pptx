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RockitFactory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D6"/>
                </a:solidFill>
                <a:latin typeface="Calibri"/>
              </a:defRPr>
            </a:pPr>
            <a:r>
              <a:t>Agentic Trading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Architecture Evolution: From Deterministic Signals to LLM-Powered Agent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NQ Futures  |  272 Sessions  |  Dalton Market Profile  |  Qwen3.5 + DuckDB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6 separate repositories, no unified pipeline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Strategy signals fire without context — no "should I take this?"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No way to correlate trades with market structure at entry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LLM analysis exists but disconnected from decision-making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Manual trade review — no systematic self-improvement loop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Backtesting doesn't include agent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65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97B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Monorepo: research, backtest, train, serve, trade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Agents evaluate every signal before execution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DuckDB warehouse: trades + deterministic context + LLM analysis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Trained LLM as analyst — your trader voice interpreting data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Self-learning loop: review, observe, adapt, improve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One process, two loops: strategy runner (1-min) + orchestrator (5-min)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Three-Tier Model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00400" cy="164592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TIER 0</a:t>
            </a:r>
            <a:br/>
            <a:r>
              <a:t>Deterministic Python</a:t>
            </a:r>
            <a:br/>
            <a:br/>
            <a:r>
              <a:t>38 modules, &lt;10ms</a:t>
            </a:r>
            <a:br/>
            <a:r>
              <a:t>80% of the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00400" cy="1645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TIER 1</a:t>
            </a:r>
            <a:br/>
            <a:r>
              <a:t>Qwen3.5 Local (Ollama/vLLM)</a:t>
            </a:r>
            <a:br/>
            <a:br/>
            <a:r>
              <a:t>Agent debates, real-time</a:t>
            </a:r>
            <a:br/>
            <a:r>
              <a:t>~2 min per signal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00400" cy="1645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TIER 2</a:t>
            </a:r>
            <a:br/>
            <a:r>
              <a:t>Opus 4.6 / Gemini API</a:t>
            </a:r>
            <a:br/>
            <a:br/>
            <a:r>
              <a:t>Meta-review, design</a:t>
            </a:r>
            <a:br/>
            <a:r>
              <a:t>Periodic, not real-time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Tier 0: Deterministic modules (IB, TPO, DPOC, CRI, delta, FVG, etc.) — free, instant, always running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Tier 1: Local LLM on DGX Spark (128GB) — Advocate/Skeptic debate on signal, trained analyst on 5-min timer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Tier 2: Frontier API models — meta-reviews every 1-3 days, architecture decisions, deep backtesting analysis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Key principle: LLM = analyst/tape reader, NOT trader. Strategies emit signals, agents evaluate.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Single Qwen3.5 + single LoRA. Agent roles via system prompts, not separate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Current Architecture — Signal to Decision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011680" cy="822960"/>
          </a:xfrm>
          <a:prstGeom prst="round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Strategy Signal</a:t>
            </a:r>
            <a:br/>
            <a:r>
              <a:t>(5 strategies)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188720"/>
            <a:ext cx="2011680" cy="822960"/>
          </a:xfrm>
          <a:prstGeom prst="roundRect">
            <a:avLst/>
          </a:prstGeom>
          <a:solidFill>
            <a:srgbClr val="446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Mechanical Filters</a:t>
            </a:r>
            <a:br/>
            <a:r>
              <a:t>Bias + DayType + AntiChase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188720"/>
            <a:ext cx="2011680" cy="82296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 Gate +</a:t>
            </a:r>
            <a:br/>
            <a:r>
              <a:t>Observers (9 cards)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2011680" cy="822960"/>
          </a:xfrm>
          <a:prstGeom prst="roundRect">
            <a:avLst/>
          </a:prstGeom>
          <a:solidFill>
            <a:srgbClr val="66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DuckDB</a:t>
            </a:r>
            <a:br/>
            <a:r>
              <a:t>Historical Stats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188720"/>
            <a:ext cx="2011680" cy="82296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ADVOCATE</a:t>
            </a:r>
            <a:br/>
            <a:r>
              <a:t>(Qwen3.5 LLM)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377440"/>
            <a:ext cx="2011680" cy="82296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SKEPTIC</a:t>
            </a:r>
            <a:br/>
            <a:r>
              <a:t>(Qwen3.5 LLM)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377440"/>
            <a:ext cx="2286000" cy="82296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ORCHESTRATOR</a:t>
            </a:r>
            <a:br/>
            <a:r>
              <a:t>(Deterministic Scorecard)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377440"/>
            <a:ext cx="2286000" cy="822960"/>
          </a:xfrm>
          <a:prstGeom prst="round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TAKE / SKIP /</a:t>
            </a:r>
            <a:br/>
            <a:r>
              <a:t>REDUCE_SIZE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Backtest Results — 272 Sessions, NQ Futures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114800"/>
          <a:ext cx="9601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00400"/>
                <a:gridCol w="1097280"/>
                <a:gridCol w="1097280"/>
                <a:gridCol w="914400"/>
                <a:gridCol w="1645920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Trades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 Rate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PF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PnL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$/Trade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 filters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$159,332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Mechanical filters only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259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61.0%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3.07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$125,885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$486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Mechanical + Det.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$99,000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C97B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C97B"/>
                          </a:solidFill>
                          <a:latin typeface="Calibri"/>
                        </a:defRPr>
                      </a:pPr>
                      <a:r>
                        <a:t>Mech + Agent + LLM Debate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C97B"/>
                          </a:solidFill>
                          <a:latin typeface="Calibri"/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C97B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C97B"/>
                          </a:solidFill>
                          <a:latin typeface="Calibri"/>
                        </a:defRPr>
                      </a:pPr>
                      <a:r>
                        <a:t>3.58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C97B"/>
                          </a:solidFill>
                          <a:latin typeface="Calibri"/>
                        </a:defRPr>
                      </a:pPr>
                      <a:r>
                        <a:t>$92,909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C97B"/>
                          </a:solidFill>
                          <a:latin typeface="Calibri"/>
                        </a:defRPr>
                      </a:pPr>
                      <a:r>
                        <a:t>$519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Courtroom — Agent Pipeline as Legal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377440" cy="14630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DOMAIN EXPERTS</a:t>
            </a:r>
            <a:br/>
            <a:r>
              <a:t>(38 Deterministic Modules)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Specialized factual testimony:</a:t>
            </a:r>
            <a:br/>
            <a:r>
              <a:t>IB extended 1.8x, 4 wick rejections</a:t>
            </a:r>
            <a:br/>
            <a:r>
              <a:t>at VAH, DPOC migrating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280160"/>
            <a:ext cx="2377440" cy="146304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ANALYST</a:t>
            </a:r>
            <a:br/>
            <a:r>
              <a:t>(Trained Qwen3.5 — Your Voice)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29260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Interprets expert data:</a:t>
            </a:r>
            <a:br/>
            <a:r>
              <a:t>"P-shape forming, sellers trapped</a:t>
            </a:r>
            <a:br/>
            <a:r>
              <a:t>above POC, this is a fade setup"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280160"/>
            <a:ext cx="2377440" cy="14630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ADVOCATE LAWYER</a:t>
            </a:r>
            <a:br/>
            <a:r>
              <a:t>(LLM Agent)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9260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Argues FOR the trade</a:t>
            </a:r>
            <a:br/>
            <a:r>
              <a:t>using expert data +</a:t>
            </a:r>
            <a:br/>
            <a:r>
              <a:t>analyst interpretation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280160"/>
            <a:ext cx="2377440" cy="146304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DEFENSE LAWYER</a:t>
            </a:r>
            <a:br/>
            <a:r>
              <a:t>(LLM Agent)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9260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Challenges the case:</a:t>
            </a:r>
            <a:br/>
            <a:r>
              <a:t>flags warnings, disputes</a:t>
            </a:r>
            <a:br/>
            <a:r>
              <a:t>evidence, finds weaknesses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572000"/>
            <a:ext cx="3931920" cy="914400"/>
          </a:xfrm>
          <a:prstGeom prst="round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JUDGE — Orchestrator (Deterministic Scorecard)</a:t>
            </a:r>
            <a:br/>
            <a:r>
              <a:t>TAKE  /  SKIP  /  REDUCE_SIZE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Court convenes ON DEMAND only — when a signal fires or user asks. Analyst runs on 5-min timer (amortized). No signal = no trial.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Run E — Strategy Performance (LLM Debate)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8321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1097280"/>
                <a:gridCol w="137160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Trades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 Rate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PnL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Debated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Take Rate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C97B"/>
                          </a:solidFill>
                          <a:latin typeface="Calibri"/>
                        </a:defRPr>
                      </a:pPr>
                      <a:r>
                        <a:t>Opening Range Rev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7B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7B"/>
                          </a:solidFill>
                          <a:latin typeface="Calibri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7B"/>
                          </a:solidFill>
                          <a:latin typeface="Calibri"/>
                        </a:defRPr>
                      </a:pPr>
                      <a:r>
                        <a:t>$50,064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7B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7B"/>
                          </a:solidFill>
                          <a:latin typeface="Calibri"/>
                        </a:defRPr>
                      </a:pPr>
                      <a: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OR Acceptance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66.2%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$22,329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20P IB Extension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$16,542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B-Day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65.0%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$5,655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4545"/>
                          </a:solidFill>
                          <a:latin typeface="Calibri"/>
                        </a:defRPr>
                      </a:pPr>
                      <a:r>
                        <a:t>80P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4545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4545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4545"/>
                          </a:solidFill>
                          <a:latin typeface="Calibri"/>
                        </a:defRPr>
                      </a:pPr>
                      <a:r>
                        <a:t>-$1,682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4545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4545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$92,909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211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846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OR Rev is the crown jewel: 75% WR, $50K net, 93% take rate — LLM has high conviction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LLM essentially killed 80P Rule (2 debates, 1 trade, 1 loss) — correct behavior given known issues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OR Acceptance most debated (91 signals) — LLM selective, 81% take rate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Progressive improvement: A(56.1%) → B(61.0%) → C(64.4%) → E(66.5%) — each layer adds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Target Architecture — Production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ALWAYS RUNNING (timer, amortized)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286000" cy="1097280"/>
          </a:xfrm>
          <a:prstGeom prst="roundRect">
            <a:avLst/>
          </a:prstGeom>
          <a:solidFill>
            <a:srgbClr val="33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1-min Strategy Runner</a:t>
            </a:r>
            <a:br/>
            <a:r>
              <a:t>5 strategies</a:t>
            </a:r>
            <a:br/>
            <a:r>
              <a:t>Signal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554480"/>
            <a:ext cx="2286000" cy="10972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5-min Orchestrator</a:t>
            </a:r>
            <a:br/>
            <a:r>
              <a:t>38 deterministic modules</a:t>
            </a:r>
            <a:br/>
            <a:r>
              <a:t>Context building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554480"/>
            <a:ext cx="2286000" cy="109728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5-min LLM Analyst</a:t>
            </a:r>
            <a:br/>
            <a:r>
              <a:t>Trained Qwen3.5</a:t>
            </a:r>
            <a:br/>
            <a:r>
              <a:t>Your trader voice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54480"/>
            <a:ext cx="2286000" cy="1097280"/>
          </a:xfrm>
          <a:prstGeom prst="roundRect">
            <a:avLst/>
          </a:prstGeom>
          <a:solidFill>
            <a:srgbClr val="66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DuckDB + GCS</a:t>
            </a:r>
            <a:br/>
            <a:r>
              <a:t>Analysis cached</a:t>
            </a:r>
            <a:br/>
            <a:r>
              <a:t>Historical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ON-DEMAND (signal trigger or user query)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66160"/>
            <a:ext cx="1645920" cy="9144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Signal fires</a:t>
            </a:r>
            <a:br/>
            <a:r>
              <a:t>or user 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3566160"/>
            <a:ext cx="1828800" cy="9144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Scorecard</a:t>
            </a:r>
            <a:br/>
            <a:r>
              <a:t>+ Analyst reports</a:t>
            </a:r>
            <a:br/>
            <a:r>
              <a:t>(last 3-6)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566160"/>
            <a:ext cx="1463040" cy="91440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Advocate</a:t>
            </a:r>
            <a:br/>
            <a:r>
              <a:t>(~50s)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566160"/>
            <a:ext cx="1463040" cy="9144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Skeptic</a:t>
            </a:r>
            <a:br/>
            <a:r>
              <a:t>(~60s)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566160"/>
            <a:ext cx="1463040" cy="91440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Judge</a:t>
            </a:r>
            <a:br/>
            <a:r>
              <a:t>(&lt;10ms)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3566160"/>
            <a:ext cx="1463040" cy="914400"/>
          </a:xfrm>
          <a:prstGeom prst="round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TAKE</a:t>
            </a:r>
            <a:br/>
            <a:r>
              <a:t>SKIP</a:t>
            </a:r>
            <a:br/>
            <a:r>
              <a:t>REDUCE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00080"/>
                </a:solidFill>
                <a:latin typeface="Calibri"/>
              </a:defRPr>
            </a:pPr>
            <a:r>
              <a:t>SELF-LEARNING LOOP (post-market)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94960"/>
            <a:ext cx="2011680" cy="822960"/>
          </a:xfrm>
          <a:prstGeom prst="roundRect">
            <a:avLst/>
          </a:prstGeom>
          <a:solidFill>
            <a:srgbClr val="55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Trade Reviewer</a:t>
            </a:r>
            <a:br/>
            <a:r>
              <a:t>(Qwen3.5)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5394960"/>
            <a:ext cx="2011680" cy="822960"/>
          </a:xfrm>
          <a:prstGeom prst="roundRect">
            <a:avLst/>
          </a:prstGeom>
          <a:solidFill>
            <a:srgbClr val="55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Observations</a:t>
            </a:r>
            <a:br/>
            <a:r>
              <a:t>→ DuckDB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5394960"/>
            <a:ext cx="2011680" cy="822960"/>
          </a:xfrm>
          <a:prstGeom prst="roundRect">
            <a:avLst/>
          </a:prstGeom>
          <a:solidFill>
            <a:srgbClr val="55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Meta-Review</a:t>
            </a:r>
            <a:br/>
            <a:r>
              <a:t>(Opus 4.6, 1-3 days)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5394960"/>
            <a:ext cx="2011680" cy="822960"/>
          </a:xfrm>
          <a:prstGeom prst="roundRect">
            <a:avLst/>
          </a:prstGeom>
          <a:solidFill>
            <a:srgbClr val="55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Prompt/Param Update</a:t>
            </a:r>
            <a:br/>
            <a:r>
              <a:t>+ A/B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5394960"/>
            <a:ext cx="2011680" cy="822960"/>
          </a:xfrm>
          <a:prstGeom prst="roundRect">
            <a:avLst/>
          </a:prstGeom>
          <a:solidFill>
            <a:srgbClr val="55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Auto-Rollback</a:t>
            </a:r>
            <a:br/>
            <a:r>
              <a:t>if regression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Speed Optimization 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8686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  <a:gridCol w="1371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Optimization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Ollama → vLLM (concurrent batching)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2-3x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Skip obvious signals (debate ambiguous only)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Smaller model (8B/14B benchmark)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3-4x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Session chunking (parallel backtests)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2-3x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Combined estimate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10-20x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6.5h → 20-40 min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3891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Model benchmarking: Test GLM-4.7, Qwen3:8B/14B, Phi-4 — if smaller model matches decisions, use it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vLLM continuous batching: same weights, concurrent requests, 2-3x throughput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Skip obvious signals: if deterministic score &gt; 0.7, auto-TAKE without LLM debate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Per-signal latency in production: ~2 min (fits in 5-min candle with room to spare)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Training decision gate: Run E → model benchmark → decide if LoRA training is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Core: Python 3.11+, uv workspaces, monorepo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Backtest: 272 sessions, 5 strategies, MAE/MFE, 38 deterministic modules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Database: DuckDB (local-first, structured retrieval, not vector RAG)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LLM Serving: Ollama → vLLM on DGX Spark (128GB)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Model: Qwen3.5:35b-a3b (MoE, 3B active) — 128K context, 8K output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Training: BF16 LoRA r=64 via Unsloth on DGX 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Agent Framework: Custom pipeline (Gate → Observers → Debate → Orchestrator)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Filters: YAML-driven CompositeFilter chain (bias, day type, anti-chase, agent)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API: FastAPI (rockit-serve), JWT auth, GCS storage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UI: React 19 + TypeScript + Vite + Tailwind (RockitUI dashboard)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Cloud: GCP (Cloud Run, GCS, Vertex AI) — production only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Testing: 732+ tests, baseline comparison, A/B test framework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371600" cy="73152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417319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Run E complete — LLM debate adds +10.4% WR over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371600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423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Model benchmarking — test smaller/faster models for same 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1371600" cy="7315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4290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Train expert witness — LoRA on deterministic → analysis (your voice)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371600" cy="7315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4348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Inject LLM analysis stream into agent pipeline → Run F backtest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371600" cy="73152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54406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vLLM deployment + real-time pipeline + RockitUI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88888"/>
                </a:solidFill>
                <a:latin typeface="Calibri"/>
              </a:defRPr>
            </a:pPr>
            <a:r>
              <a:t>"Strategies emit signals. Agents evaluate. LLM reads the tape. The court decides."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